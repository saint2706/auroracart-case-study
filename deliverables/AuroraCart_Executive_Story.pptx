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[0:00-0:30] Two years ago this company was smaller and more profitable. Today it is much larger and materially less profitable. I am going to show you where that profit went, why the usual explanations are wrong, and the three things I would do about it. Five charts do most of the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[0:30-0:45] Start with what everyone in the room already agrees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[0:45-1:45] The Chief Growth Officer is right that the business is bigger. Revenue nearly doubled. But margin went the other way, and not slightly: it fell by more than a third of where it started. Two separate panels here, not one dual-axis chart, because the crossing point of two arbitrary scales would be a coincidence, not a finding. The question for the next ten minutes is not whether we grew. It is what we bought with the growth.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[1:45-2:00]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[2:00-3:00] This is the growth programme, measured on its own terms. Per-month figures, because the two windows have to be comparable. Revenue per month rose 77%. Profit per month rose 14%. We did acquire customers and we did enter Tier 2, so the programme did what it said. It also discounted four points deeper to do it. Nothing here says stop growing. It says we are not currently being paid for the growth.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[3:00-3:10] The obvious answer is that we grew into a worse mix. It is wrong.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[3:10-4:15] I want to kill the comfortable explanation first. If the decline were a mix story, meaning we grew the low-margin categories, the fix would be merchandising. It isn't. Holding the 2023 category mix fixed, margin still lands at 7.6%. Nine tenths of the fall happened inside categories we already sold. So: which categories, and why.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[4:15-5:00] Here is the concentration. Electronics is not a rounding error. It is half the company, and it is under water. Every other category is healthy. Note the average discount is within a third of a point across all five categories, so this is not a story about Electronics being discounted harder.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[5:00-5:45] This is the diagnostic slide. When merchandise costs 94 paise of every rupee recognised, there is almost nothing left to cover delivery, marketing and operations, let alone a discount. That is why the same 13% discount that a Fashion order absorbs comfortably puts an Electronics order into loss.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[5:45-5:55]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[5:55-6:50] This is the most actionable chart in the deck. Discount tolerance is a function of cost structure, and we have been setting it company-wide. Read this as tolerance, not as a response curve. Deeply discounted orders also differ in what is in them, and I am not claiming the discount caused the margin. But the policy implication survives either reading: the ceiling has to be set per category.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[6:50-7:30] The leadership team asked whether the answer is geography, customer type, channel or fulfilment. Measured properly, as spread in margin weighted by how much revenue each cut actually splits, it is none of those. It is product. This is the slide that settles the argument in the room.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[7:30-8:15] Exhibit A is accurate. Every number in it is correct, and it would have started a customer-segmentation project. Exhibit B is the same orders split by what was in them, and Premium's margin is unremarkable. The segment was never the problem; it just buys the category that is. Any cut of this data that does not control for category will produce a version of this mistake.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[8:15-9:00] The COO's investment paid off, and the summary table we have all been reading hides it. Pooled across three years, 43% reads as a uniformly broken function. The monthly series shows a genuine step change. It also shows the one operational risk worth naming: every festive peak still breaks delivery. That is a capacity issue, not a contract issue, and it is a watch item rather than one of my three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[9:00-9:05]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[9:05-9:45] Three, in order, and I would not start the second before the first. Notice what is not on this list: a regional strategy, a segmentation programme, and cutting delivery investment. The evidence does not support any of them.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[9:45-10:00] I would rather you trust the three recommendations because you know what they rest on. Each of the four gaps above maps to something I would ask for before we commit the money.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91695" cy="128016"/>
          </a:xfrm>
          <a:prstGeom prst="rect">
            <a:avLst/>
          </a:prstGeom>
          <a:gradFill rotWithShape="1">
            <a:gsLst>
              <a:gs pos="0">
                <a:srgbClr val="3987E5"/>
              </a:gs>
              <a:gs pos="100000">
                <a:srgbClr val="9085E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011680"/>
            <a:ext cx="11057839" cy="2743200"/>
          </a:xfrm>
          <a:prstGeom prst="rect">
            <a:avLst/>
          </a:prstGeom>
          <a:noFill/>
        </p:spPr>
        <p:txBody>
          <a:bodyPr wrap="square" anchor="t">
            <a:spAutoFit/>
          </a:bodyPr>
          <a:lstStyle/>
          <a:p>
            <a:pPr algn="l">
              <a:spcAft>
                <a:spcPts val="1000"/>
              </a:spcAft>
            </a:pPr>
            <a:r>
              <a:rPr sz="4400" b="1" i="0">
                <a:solidFill>
                  <a:srgbClr val="FFFFFF"/>
                </a:solidFill>
                <a:latin typeface="Calibri"/>
              </a:rPr>
              <a:t>AuroraCart at a Crossroads</a:t>
            </a:r>
          </a:p>
          <a:p>
            <a:pPr algn="l">
              <a:spcAft>
                <a:spcPts val="2400"/>
              </a:spcAft>
            </a:pPr>
            <a:r>
              <a:rPr sz="2000" b="0" i="0">
                <a:solidFill>
                  <a:srgbClr val="C3C2B7"/>
                </a:solidFill>
                <a:latin typeface="Calibri"/>
              </a:rPr>
              <a:t>Growth is real. Value creation is not. Where the next 12 months of investment should go.</a:t>
            </a:r>
          </a:p>
          <a:p>
            <a:pPr algn="l">
              <a:spcAft>
                <a:spcPts val="400"/>
              </a:spcAft>
            </a:pPr>
            <a:r>
              <a:rPr sz="1400" b="0" i="0">
                <a:solidFill>
                  <a:srgbClr val="898781"/>
                </a:solidFill>
                <a:latin typeface="Calibri"/>
              </a:rPr>
              <a:t>Order-level analysis, 14,970 orders · 6,778 customers · January 2023 to December 2025</a:t>
            </a:r>
          </a:p>
          <a:p>
            <a:pPr algn="l">
              <a:spcAft>
                <a:spcPts val="400"/>
              </a:spcAft>
            </a:pPr>
            <a:r>
              <a:rPr sz="1400" b="0" i="0">
                <a:solidFill>
                  <a:srgbClr val="898781"/>
                </a:solidFill>
                <a:latin typeface="Calibri"/>
              </a:rPr>
              <a:t>Prepared for the CEO and senior leadership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566928" y="3035808"/>
            <a:ext cx="822960" cy="28575"/>
          </a:xfrm>
          <a:prstGeom prst="rect">
            <a:avLst/>
          </a:prstGeom>
          <a:gradFill rotWithShape="1">
            <a:gsLst>
              <a:gs pos="0">
                <a:srgbClr val="3987E5"/>
              </a:gs>
              <a:gs pos="100000">
                <a:srgbClr val="9085E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148840"/>
            <a:ext cx="11057839" cy="2194560"/>
          </a:xfrm>
          <a:prstGeom prst="rect">
            <a:avLst/>
          </a:prstGeom>
          <a:noFill/>
        </p:spPr>
        <p:txBody>
          <a:bodyPr wrap="square" anchor="t">
            <a:spAutoFit/>
          </a:bodyPr>
          <a:lstStyle/>
          <a:p>
            <a:pPr algn="l">
              <a:spcAft>
                <a:spcPts val="1000"/>
              </a:spcAft>
            </a:pPr>
            <a:r>
              <a:rPr sz="1400" b="1" i="0">
                <a:solidFill>
                  <a:srgbClr val="3987E5"/>
                </a:solidFill>
                <a:latin typeface="Calibri"/>
              </a:rPr>
              <a:t>CONTEXT</a:t>
            </a:r>
          </a:p>
          <a:p>
            <a:pPr algn="l">
              <a:spcAft>
                <a:spcPts val="0"/>
              </a:spcAft>
            </a:pPr>
            <a:r>
              <a:rPr sz="3600" b="1" i="0">
                <a:solidFill>
                  <a:srgbClr val="FFFFFF"/>
                </a:solidFill>
                <a:latin typeface="Calibri"/>
              </a:rPr>
              <a:t>What the numbers say we 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9"/>
        </a:solidFill>
        <a:effectLst/>
      </p:bgPr>
    </p:bg>
    <p:spTree>
      <p:nvGrpSpPr>
        <p:cNvPr id="1" name=""/>
        <p:cNvGrpSpPr/>
        <p:nvPr/>
      </p:nvGrpSpPr>
      <p:grpSpPr/>
      <p:sp>
        <p:nvSpPr>
          <p:cNvPr id="2" name="TextBox 1"/>
          <p:cNvSpPr txBox="1"/>
          <p:nvPr/>
        </p:nvSpPr>
        <p:spPr>
          <a:xfrm>
            <a:off x="566928" y="365760"/>
            <a:ext cx="11057839" cy="1143000"/>
          </a:xfrm>
          <a:prstGeom prst="rect">
            <a:avLst/>
          </a:prstGeom>
          <a:noFill/>
        </p:spPr>
        <p:txBody>
          <a:bodyPr wrap="square" anchor="t">
            <a:spAutoFit/>
          </a:bodyPr>
          <a:lstStyle/>
          <a:p>
            <a:pPr algn="l">
              <a:spcAft>
                <a:spcPts val="400"/>
              </a:spcAft>
            </a:pPr>
            <a:r>
              <a:rPr sz="2500" b="1" i="0">
                <a:solidFill>
                  <a:srgbClr val="FFFFFF"/>
                </a:solidFill>
                <a:latin typeface="Calibri"/>
              </a:rPr>
              <a:t>Revenue grew 98%. Margin fell 5.3 points.</a:t>
            </a:r>
          </a:p>
          <a:p>
            <a:pPr algn="l">
              <a:spcAft>
                <a:spcPts val="0"/>
              </a:spcAft>
            </a:pPr>
            <a:r>
              <a:rPr sz="1300" b="0" i="0">
                <a:solidFill>
                  <a:srgbClr val="C3C2B7"/>
                </a:solidFill>
                <a:latin typeface="Calibri"/>
              </a:rPr>
              <a:t>₹29.3M to ₹58.0M net revenue · 12.4% to 7.1% margin</a:t>
            </a:r>
          </a:p>
        </p:txBody>
      </p:sp>
      <p:sp>
        <p:nvSpPr>
          <p:cNvPr id="3" name="Rectangle 2"/>
          <p:cNvSpPr/>
          <p:nvPr/>
        </p:nvSpPr>
        <p:spPr>
          <a:xfrm>
            <a:off x="566928" y="1527048"/>
            <a:ext cx="1280160" cy="28575"/>
          </a:xfrm>
          <a:prstGeom prst="rect">
            <a:avLst/>
          </a:prstGeom>
          <a:gradFill rotWithShape="1">
            <a:gsLst>
              <a:gs pos="0">
                <a:srgbClr val="3987E5"/>
              </a:gs>
              <a:gs pos="100000">
                <a:srgbClr val="9085E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growth_vs_margin.png"/>
          <p:cNvPicPr>
            <a:picLocks noChangeAspect="1"/>
          </p:cNvPicPr>
          <p:nvPr/>
        </p:nvPicPr>
        <p:blipFill>
          <a:blip r:embed="rId2"/>
          <a:stretch>
            <a:fillRect/>
          </a:stretch>
        </p:blipFill>
        <p:spPr>
          <a:xfrm>
            <a:off x="1401927" y="1691640"/>
            <a:ext cx="9387840" cy="4023360"/>
          </a:xfrm>
          <a:prstGeom prst="rect">
            <a:avLst/>
          </a:prstGeom>
        </p:spPr>
      </p:pic>
      <p:sp>
        <p:nvSpPr>
          <p:cNvPr id="5" name="TextBox 4"/>
          <p:cNvSpPr txBox="1"/>
          <p:nvPr/>
        </p:nvSpPr>
        <p:spPr>
          <a:xfrm>
            <a:off x="566928" y="5742432"/>
            <a:ext cx="11057839" cy="960120"/>
          </a:xfrm>
          <a:prstGeom prst="rect">
            <a:avLst/>
          </a:prstGeom>
          <a:noFill/>
        </p:spPr>
        <p:txBody>
          <a:bodyPr wrap="square" anchor="t">
            <a:spAutoFit/>
          </a:bodyPr>
          <a:lstStyle/>
          <a:p>
            <a:pPr algn="l">
              <a:spcAft>
                <a:spcPts val="700"/>
              </a:spcAft>
            </a:pPr>
            <a:r>
              <a:rPr sz="1400" b="0" i="0">
                <a:solidFill>
                  <a:srgbClr val="C3C2B7"/>
                </a:solidFill>
                <a:latin typeface="Calibri"/>
              </a:rPr>
              <a:t>Total contribution across the three years: ₹11.6M on ₹130.8M of net revenue, an 8.9% margin.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566928" y="3035808"/>
            <a:ext cx="822960" cy="28575"/>
          </a:xfrm>
          <a:prstGeom prst="rect">
            <a:avLst/>
          </a:prstGeom>
          <a:gradFill rotWithShape="1">
            <a:gsLst>
              <a:gs pos="0">
                <a:srgbClr val="3987E5"/>
              </a:gs>
              <a:gs pos="100000">
                <a:srgbClr val="9085E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148840"/>
            <a:ext cx="11057839" cy="2194560"/>
          </a:xfrm>
          <a:prstGeom prst="rect">
            <a:avLst/>
          </a:prstGeom>
          <a:noFill/>
        </p:spPr>
        <p:txBody>
          <a:bodyPr wrap="square" anchor="t">
            <a:spAutoFit/>
          </a:bodyPr>
          <a:lstStyle/>
          <a:p>
            <a:pPr algn="l">
              <a:spcAft>
                <a:spcPts val="1000"/>
              </a:spcAft>
            </a:pPr>
            <a:r>
              <a:rPr sz="1400" b="1" i="0">
                <a:solidFill>
                  <a:srgbClr val="3987E5"/>
                </a:solidFill>
                <a:latin typeface="Calibri"/>
              </a:rPr>
              <a:t>TENSION</a:t>
            </a:r>
          </a:p>
          <a:p>
            <a:pPr algn="l">
              <a:spcAft>
                <a:spcPts val="0"/>
              </a:spcAft>
            </a:pPr>
            <a:r>
              <a:rPr sz="3600" b="1" i="0">
                <a:solidFill>
                  <a:srgbClr val="FFFFFF"/>
                </a:solidFill>
                <a:latin typeface="Calibri"/>
              </a:rPr>
              <a:t>Growth was purchased, not earned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9"/>
        </a:solidFill>
        <a:effectLst/>
      </p:bgPr>
    </p:bg>
    <p:spTree>
      <p:nvGrpSpPr>
        <p:cNvPr id="1" name=""/>
        <p:cNvGrpSpPr/>
        <p:nvPr/>
      </p:nvGrpSpPr>
      <p:grpSpPr/>
      <p:sp>
        <p:nvSpPr>
          <p:cNvPr id="2" name="TextBox 1"/>
          <p:cNvSpPr txBox="1"/>
          <p:nvPr/>
        </p:nvSpPr>
        <p:spPr>
          <a:xfrm>
            <a:off x="566928" y="365760"/>
            <a:ext cx="11057839" cy="1143000"/>
          </a:xfrm>
          <a:prstGeom prst="rect">
            <a:avLst/>
          </a:prstGeom>
          <a:noFill/>
        </p:spPr>
        <p:txBody>
          <a:bodyPr wrap="square" anchor="t">
            <a:spAutoFit/>
          </a:bodyPr>
          <a:lstStyle/>
          <a:p>
            <a:pPr algn="l">
              <a:spcAft>
                <a:spcPts val="400"/>
              </a:spcAft>
            </a:pPr>
            <a:r>
              <a:rPr sz="2500" b="1" i="0">
                <a:solidFill>
                  <a:srgbClr val="FFFFFF"/>
                </a:solidFill>
                <a:latin typeface="Calibri"/>
              </a:rPr>
              <a:t>Accelerate 2.0 bought revenue at roughly five times the price of profit</a:t>
            </a:r>
          </a:p>
          <a:p>
            <a:pPr algn="l">
              <a:spcAft>
                <a:spcPts val="0"/>
              </a:spcAft>
            </a:pPr>
            <a:r>
              <a:rPr sz="1300" b="0" i="0">
                <a:solidFill>
                  <a:srgbClr val="C3C2B7"/>
                </a:solidFill>
                <a:latin typeface="Calibri"/>
              </a:rPr>
              <a:t>Revenue per month +77%, profit per month +14% (18 months either side of July 2024)</a:t>
            </a:r>
          </a:p>
        </p:txBody>
      </p:sp>
      <p:sp>
        <p:nvSpPr>
          <p:cNvPr id="3" name="Rectangle 2"/>
          <p:cNvSpPr/>
          <p:nvPr/>
        </p:nvSpPr>
        <p:spPr>
          <a:xfrm>
            <a:off x="566928" y="1527048"/>
            <a:ext cx="1280160" cy="28575"/>
          </a:xfrm>
          <a:prstGeom prst="rect">
            <a:avLst/>
          </a:prstGeom>
          <a:gradFill rotWithShape="1">
            <a:gsLst>
              <a:gs pos="0">
                <a:srgbClr val="3987E5"/>
              </a:gs>
              <a:gs pos="100000">
                <a:srgbClr val="9085E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2_accelerate_split.png"/>
          <p:cNvPicPr>
            <a:picLocks noChangeAspect="1"/>
          </p:cNvPicPr>
          <p:nvPr/>
        </p:nvPicPr>
        <p:blipFill>
          <a:blip r:embed="rId2"/>
          <a:stretch>
            <a:fillRect/>
          </a:stretch>
        </p:blipFill>
        <p:spPr>
          <a:xfrm>
            <a:off x="1401927" y="1691640"/>
            <a:ext cx="9387840" cy="4023360"/>
          </a:xfrm>
          <a:prstGeom prst="rect">
            <a:avLst/>
          </a:prstGeom>
        </p:spPr>
      </p:pic>
      <p:sp>
        <p:nvSpPr>
          <p:cNvPr id="5" name="TextBox 4"/>
          <p:cNvSpPr txBox="1"/>
          <p:nvPr/>
        </p:nvSpPr>
        <p:spPr>
          <a:xfrm>
            <a:off x="566928" y="5742432"/>
            <a:ext cx="11057839" cy="960120"/>
          </a:xfrm>
          <a:prstGeom prst="rect">
            <a:avLst/>
          </a:prstGeom>
          <a:noFill/>
        </p:spPr>
        <p:txBody>
          <a:bodyPr wrap="square" anchor="t">
            <a:spAutoFit/>
          </a:bodyPr>
          <a:lstStyle/>
          <a:p>
            <a:pPr algn="l">
              <a:spcAft>
                <a:spcPts val="700"/>
              </a:spcAft>
            </a:pPr>
            <a:r>
              <a:rPr sz="1400" b="0" i="0">
                <a:solidFill>
                  <a:srgbClr val="C3C2B7"/>
                </a:solidFill>
                <a:latin typeface="Calibri"/>
              </a:rPr>
              <a:t>Average discount rose from 11.0% to 14.9%; new customers' share of orders rose from 38% to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566928" y="3035808"/>
            <a:ext cx="822960" cy="28575"/>
          </a:xfrm>
          <a:prstGeom prst="rect">
            <a:avLst/>
          </a:prstGeom>
          <a:gradFill rotWithShape="1">
            <a:gsLst>
              <a:gs pos="0">
                <a:srgbClr val="3987E5"/>
              </a:gs>
              <a:gs pos="100000">
                <a:srgbClr val="9085E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148840"/>
            <a:ext cx="11057839" cy="2194560"/>
          </a:xfrm>
          <a:prstGeom prst="rect">
            <a:avLst/>
          </a:prstGeom>
          <a:noFill/>
        </p:spPr>
        <p:txBody>
          <a:bodyPr wrap="square" anchor="t">
            <a:spAutoFit/>
          </a:bodyPr>
          <a:lstStyle/>
          <a:p>
            <a:pPr algn="l">
              <a:spcAft>
                <a:spcPts val="1000"/>
              </a:spcAft>
            </a:pPr>
            <a:r>
              <a:rPr sz="1400" b="1" i="0">
                <a:solidFill>
                  <a:srgbClr val="3987E5"/>
                </a:solidFill>
                <a:latin typeface="Calibri"/>
              </a:rPr>
              <a:t>INVESTIGATION</a:t>
            </a:r>
          </a:p>
          <a:p>
            <a:pPr algn="l">
              <a:spcAft>
                <a:spcPts val="0"/>
              </a:spcAft>
            </a:pPr>
            <a:r>
              <a:rPr sz="3600" b="1" i="0">
                <a:solidFill>
                  <a:srgbClr val="FFFFFF"/>
                </a:solidFill>
                <a:latin typeface="Calibri"/>
              </a:rPr>
              <a:t>So where did the margin go?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9"/>
        </a:solidFill>
        <a:effectLst/>
      </p:bgPr>
    </p:bg>
    <p:spTree>
      <p:nvGrpSpPr>
        <p:cNvPr id="1" name=""/>
        <p:cNvGrpSpPr/>
        <p:nvPr/>
      </p:nvGrpSpPr>
      <p:grpSpPr/>
      <p:sp>
        <p:nvSpPr>
          <p:cNvPr id="2" name="TextBox 1"/>
          <p:cNvSpPr txBox="1"/>
          <p:nvPr/>
        </p:nvSpPr>
        <p:spPr>
          <a:xfrm>
            <a:off x="566928" y="365760"/>
            <a:ext cx="11057839" cy="1143000"/>
          </a:xfrm>
          <a:prstGeom prst="rect">
            <a:avLst/>
          </a:prstGeom>
          <a:noFill/>
        </p:spPr>
        <p:txBody>
          <a:bodyPr wrap="square" anchor="t">
            <a:spAutoFit/>
          </a:bodyPr>
          <a:lstStyle/>
          <a:p>
            <a:pPr algn="l">
              <a:spcAft>
                <a:spcPts val="400"/>
              </a:spcAft>
            </a:pPr>
            <a:r>
              <a:rPr sz="2500" b="1" i="0">
                <a:solidFill>
                  <a:srgbClr val="FFFFFF"/>
                </a:solidFill>
                <a:latin typeface="Calibri"/>
              </a:rPr>
              <a:t>What we sell has not changed much. What we earn on it has.</a:t>
            </a:r>
          </a:p>
          <a:p>
            <a:pPr algn="l">
              <a:spcAft>
                <a:spcPts val="0"/>
              </a:spcAft>
            </a:pPr>
            <a:r>
              <a:rPr sz="1300" b="0" i="0">
                <a:solidFill>
                  <a:srgbClr val="C3C2B7"/>
                </a:solidFill>
                <a:latin typeface="Calibri"/>
              </a:rPr>
              <a:t>92% of the decline is margin erosion inside categories; the mix shift accounts for 0.4 points</a:t>
            </a:r>
          </a:p>
        </p:txBody>
      </p:sp>
      <p:sp>
        <p:nvSpPr>
          <p:cNvPr id="3" name="Rectangle 2"/>
          <p:cNvSpPr/>
          <p:nvPr/>
        </p:nvSpPr>
        <p:spPr>
          <a:xfrm>
            <a:off x="566928" y="1527048"/>
            <a:ext cx="1280160" cy="28575"/>
          </a:xfrm>
          <a:prstGeom prst="rect">
            <a:avLst/>
          </a:prstGeom>
          <a:gradFill rotWithShape="1">
            <a:gsLst>
              <a:gs pos="0">
                <a:srgbClr val="3987E5"/>
              </a:gs>
              <a:gs pos="100000">
                <a:srgbClr val="9085E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3_margin_decomposition.png"/>
          <p:cNvPicPr>
            <a:picLocks noChangeAspect="1"/>
          </p:cNvPicPr>
          <p:nvPr/>
        </p:nvPicPr>
        <p:blipFill>
          <a:blip r:embed="rId2"/>
          <a:stretch>
            <a:fillRect/>
          </a:stretch>
        </p:blipFill>
        <p:spPr>
          <a:xfrm>
            <a:off x="1401927" y="1691640"/>
            <a:ext cx="9387840" cy="4023360"/>
          </a:xfrm>
          <a:prstGeom prst="rect">
            <a:avLst/>
          </a:prstGeom>
        </p:spPr>
      </p:pic>
      <p:sp>
        <p:nvSpPr>
          <p:cNvPr id="5" name="TextBox 4"/>
          <p:cNvSpPr txBox="1"/>
          <p:nvPr/>
        </p:nvSpPr>
        <p:spPr>
          <a:xfrm>
            <a:off x="566928" y="5742432"/>
            <a:ext cx="11057839" cy="960120"/>
          </a:xfrm>
          <a:prstGeom prst="rect">
            <a:avLst/>
          </a:prstGeom>
          <a:noFill/>
        </p:spPr>
        <p:txBody>
          <a:bodyPr wrap="square" anchor="t">
            <a:spAutoFit/>
          </a:bodyPr>
          <a:lstStyle/>
          <a:p>
            <a:pPr algn="l">
              <a:spcAft>
                <a:spcPts val="700"/>
              </a:spcAft>
            </a:pPr>
            <a:r>
              <a:rPr sz="1400" b="0" i="0">
                <a:solidFill>
                  <a:srgbClr val="C3C2B7"/>
                </a:solidFill>
                <a:latin typeface="Calibri"/>
              </a:rPr>
              <a:t>The distinction matters because the two explanations call for opposite actions: a mix problem is fixed by selling something else, an erosion problem by changing the terms we sell 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9"/>
        </a:solidFill>
        <a:effectLst/>
      </p:bgPr>
    </p:bg>
    <p:spTree>
      <p:nvGrpSpPr>
        <p:cNvPr id="1" name=""/>
        <p:cNvGrpSpPr/>
        <p:nvPr/>
      </p:nvGrpSpPr>
      <p:grpSpPr/>
      <p:sp>
        <p:nvSpPr>
          <p:cNvPr id="2" name="TextBox 1"/>
          <p:cNvSpPr txBox="1"/>
          <p:nvPr/>
        </p:nvSpPr>
        <p:spPr>
          <a:xfrm>
            <a:off x="566928" y="365760"/>
            <a:ext cx="11057839" cy="1143000"/>
          </a:xfrm>
          <a:prstGeom prst="rect">
            <a:avLst/>
          </a:prstGeom>
          <a:noFill/>
        </p:spPr>
        <p:txBody>
          <a:bodyPr wrap="square" anchor="t">
            <a:spAutoFit/>
          </a:bodyPr>
          <a:lstStyle/>
          <a:p>
            <a:pPr algn="l">
              <a:spcAft>
                <a:spcPts val="400"/>
              </a:spcAft>
            </a:pPr>
            <a:r>
              <a:rPr sz="2500" b="1" i="0">
                <a:solidFill>
                  <a:srgbClr val="FFFFFF"/>
                </a:solidFill>
                <a:latin typeface="Calibri"/>
              </a:rPr>
              <a:t>Half of revenue sits in the one category that loses money</a:t>
            </a:r>
          </a:p>
          <a:p>
            <a:pPr algn="l">
              <a:spcAft>
                <a:spcPts val="0"/>
              </a:spcAft>
            </a:pPr>
            <a:r>
              <a:rPr sz="1300" b="0" i="0">
                <a:solidFill>
                  <a:srgbClr val="C3C2B7"/>
                </a:solidFill>
                <a:latin typeface="Calibri"/>
              </a:rPr>
              <a:t>Electronics is 51% of net revenue at -4.9% margin. Smartphones alone are 31% of revenue at -9.1%.</a:t>
            </a:r>
          </a:p>
        </p:txBody>
      </p:sp>
      <p:sp>
        <p:nvSpPr>
          <p:cNvPr id="3" name="Rectangle 2"/>
          <p:cNvSpPr/>
          <p:nvPr/>
        </p:nvSpPr>
        <p:spPr>
          <a:xfrm>
            <a:off x="566928" y="1527048"/>
            <a:ext cx="1280160" cy="28575"/>
          </a:xfrm>
          <a:prstGeom prst="rect">
            <a:avLst/>
          </a:prstGeom>
          <a:gradFill rotWithShape="1">
            <a:gsLst>
              <a:gs pos="0">
                <a:srgbClr val="3987E5"/>
              </a:gs>
              <a:gs pos="100000">
                <a:srgbClr val="9085E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4_category_margin.png"/>
          <p:cNvPicPr>
            <a:picLocks noChangeAspect="1"/>
          </p:cNvPicPr>
          <p:nvPr/>
        </p:nvPicPr>
        <p:blipFill>
          <a:blip r:embed="rId2"/>
          <a:stretch>
            <a:fillRect/>
          </a:stretch>
        </p:blipFill>
        <p:spPr>
          <a:xfrm>
            <a:off x="1401927" y="1691640"/>
            <a:ext cx="9387840" cy="4023360"/>
          </a:xfrm>
          <a:prstGeom prst="rect">
            <a:avLst/>
          </a:prstGeom>
        </p:spPr>
      </p:pic>
      <p:sp>
        <p:nvSpPr>
          <p:cNvPr id="5" name="TextBox 4"/>
          <p:cNvSpPr txBox="1"/>
          <p:nvPr/>
        </p:nvSpPr>
        <p:spPr>
          <a:xfrm>
            <a:off x="566928" y="5742432"/>
            <a:ext cx="11057839" cy="960120"/>
          </a:xfrm>
          <a:prstGeom prst="rect">
            <a:avLst/>
          </a:prstGeom>
          <a:noFill/>
        </p:spPr>
        <p:txBody>
          <a:bodyPr wrap="square" anchor="t">
            <a:spAutoFit/>
          </a:bodyPr>
          <a:lstStyle/>
          <a:p>
            <a:pPr algn="l">
              <a:spcAft>
                <a:spcPts val="700"/>
              </a:spcAft>
            </a:pPr>
            <a:r>
              <a:rPr sz="1400" b="0" i="0">
                <a:solidFill>
                  <a:srgbClr val="C3C2B7"/>
                </a:solidFill>
                <a:latin typeface="Calibri"/>
              </a:rPr>
              <a:t>Electronics loses ₹3.2M of contribution while the other four categories earn between 18.6% and 27.7%.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9"/>
        </a:solidFill>
        <a:effectLst/>
      </p:bgPr>
    </p:bg>
    <p:spTree>
      <p:nvGrpSpPr>
        <p:cNvPr id="1" name=""/>
        <p:cNvGrpSpPr/>
        <p:nvPr/>
      </p:nvGrpSpPr>
      <p:grpSpPr/>
      <p:sp>
        <p:nvSpPr>
          <p:cNvPr id="2" name="TextBox 1"/>
          <p:cNvSpPr txBox="1"/>
          <p:nvPr/>
        </p:nvSpPr>
        <p:spPr>
          <a:xfrm>
            <a:off x="566928" y="365760"/>
            <a:ext cx="11057839" cy="1143000"/>
          </a:xfrm>
          <a:prstGeom prst="rect">
            <a:avLst/>
          </a:prstGeom>
          <a:noFill/>
        </p:spPr>
        <p:txBody>
          <a:bodyPr wrap="square" anchor="t">
            <a:spAutoFit/>
          </a:bodyPr>
          <a:lstStyle/>
          <a:p>
            <a:pPr algn="l">
              <a:spcAft>
                <a:spcPts val="400"/>
              </a:spcAft>
            </a:pPr>
            <a:r>
              <a:rPr sz="2500" b="1" i="0">
                <a:solidFill>
                  <a:srgbClr val="FFFFFF"/>
                </a:solidFill>
                <a:latin typeface="Calibri"/>
              </a:rPr>
              <a:t>Electronics is a cost problem, not a discount problem</a:t>
            </a:r>
          </a:p>
          <a:p>
            <a:pPr algn="l">
              <a:spcAft>
                <a:spcPts val="0"/>
              </a:spcAft>
            </a:pPr>
            <a:r>
              <a:rPr sz="1300" b="0" i="0">
                <a:solidFill>
                  <a:srgbClr val="C3C2B7"/>
                </a:solidFill>
                <a:latin typeface="Calibri"/>
              </a:rPr>
              <a:t>Merchandise cost alone is 94% of the net revenue an Electronics order recognises</a:t>
            </a:r>
          </a:p>
        </p:txBody>
      </p:sp>
      <p:sp>
        <p:nvSpPr>
          <p:cNvPr id="3" name="Rectangle 2"/>
          <p:cNvSpPr/>
          <p:nvPr/>
        </p:nvSpPr>
        <p:spPr>
          <a:xfrm>
            <a:off x="566928" y="1527048"/>
            <a:ext cx="1280160" cy="28575"/>
          </a:xfrm>
          <a:prstGeom prst="rect">
            <a:avLst/>
          </a:prstGeom>
          <a:gradFill rotWithShape="1">
            <a:gsLst>
              <a:gs pos="0">
                <a:srgbClr val="3987E5"/>
              </a:gs>
              <a:gs pos="100000">
                <a:srgbClr val="9085E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5_cost_structure.png"/>
          <p:cNvPicPr>
            <a:picLocks noChangeAspect="1"/>
          </p:cNvPicPr>
          <p:nvPr/>
        </p:nvPicPr>
        <p:blipFill>
          <a:blip r:embed="rId2"/>
          <a:stretch>
            <a:fillRect/>
          </a:stretch>
        </p:blipFill>
        <p:spPr>
          <a:xfrm>
            <a:off x="1401927" y="1691640"/>
            <a:ext cx="9387840" cy="4023360"/>
          </a:xfrm>
          <a:prstGeom prst="rect">
            <a:avLst/>
          </a:prstGeom>
        </p:spPr>
      </p:pic>
      <p:sp>
        <p:nvSpPr>
          <p:cNvPr id="5" name="TextBox 4"/>
          <p:cNvSpPr txBox="1"/>
          <p:nvPr/>
        </p:nvSpPr>
        <p:spPr>
          <a:xfrm>
            <a:off x="566928" y="5742432"/>
            <a:ext cx="11057839" cy="960120"/>
          </a:xfrm>
          <a:prstGeom prst="rect">
            <a:avLst/>
          </a:prstGeom>
          <a:noFill/>
        </p:spPr>
        <p:txBody>
          <a:bodyPr wrap="square" anchor="t">
            <a:spAutoFit/>
          </a:bodyPr>
          <a:lstStyle/>
          <a:p>
            <a:pPr algn="l">
              <a:spcAft>
                <a:spcPts val="700"/>
              </a:spcAft>
            </a:pPr>
            <a:r>
              <a:rPr sz="1400" b="0" i="0">
                <a:solidFill>
                  <a:srgbClr val="C3C2B7"/>
                </a:solidFill>
                <a:latin typeface="Calibri"/>
              </a:rPr>
              <a:t>Delivery, marketing and operating costs are near-identical across all five categories. The gap sits entirely in what the goods cost us relative to what we charge for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566928" y="3035808"/>
            <a:ext cx="822960" cy="28575"/>
          </a:xfrm>
          <a:prstGeom prst="rect">
            <a:avLst/>
          </a:prstGeom>
          <a:gradFill rotWithShape="1">
            <a:gsLst>
              <a:gs pos="0">
                <a:srgbClr val="3987E5"/>
              </a:gs>
              <a:gs pos="100000">
                <a:srgbClr val="9085E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148840"/>
            <a:ext cx="11057839" cy="2194560"/>
          </a:xfrm>
          <a:prstGeom prst="rect">
            <a:avLst/>
          </a:prstGeom>
          <a:noFill/>
        </p:spPr>
        <p:txBody>
          <a:bodyPr wrap="square" anchor="t">
            <a:spAutoFit/>
          </a:bodyPr>
          <a:lstStyle/>
          <a:p>
            <a:pPr algn="l">
              <a:spcAft>
                <a:spcPts val="1000"/>
              </a:spcAft>
            </a:pPr>
            <a:r>
              <a:rPr sz="1400" b="1" i="0">
                <a:solidFill>
                  <a:srgbClr val="3987E5"/>
                </a:solidFill>
                <a:latin typeface="Calibri"/>
              </a:rPr>
              <a:t>EVIDENCE</a:t>
            </a:r>
          </a:p>
          <a:p>
            <a:pPr algn="l">
              <a:spcAft>
                <a:spcPts val="0"/>
              </a:spcAft>
            </a:pPr>
            <a:r>
              <a:rPr sz="3600" b="1" i="0">
                <a:solidFill>
                  <a:srgbClr val="FFFFFF"/>
                </a:solidFill>
                <a:latin typeface="Calibri"/>
              </a:rPr>
              <a:t>The lever we actually control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9"/>
        </a:solidFill>
        <a:effectLst/>
      </p:bgPr>
    </p:bg>
    <p:spTree>
      <p:nvGrpSpPr>
        <p:cNvPr id="1" name=""/>
        <p:cNvGrpSpPr/>
        <p:nvPr/>
      </p:nvGrpSpPr>
      <p:grpSpPr/>
      <p:sp>
        <p:nvSpPr>
          <p:cNvPr id="2" name="TextBox 1"/>
          <p:cNvSpPr txBox="1"/>
          <p:nvPr/>
        </p:nvSpPr>
        <p:spPr>
          <a:xfrm>
            <a:off x="566928" y="365760"/>
            <a:ext cx="11057839" cy="1143000"/>
          </a:xfrm>
          <a:prstGeom prst="rect">
            <a:avLst/>
          </a:prstGeom>
          <a:noFill/>
        </p:spPr>
        <p:txBody>
          <a:bodyPr wrap="square" anchor="t">
            <a:spAutoFit/>
          </a:bodyPr>
          <a:lstStyle/>
          <a:p>
            <a:pPr algn="l">
              <a:spcAft>
                <a:spcPts val="400"/>
              </a:spcAft>
            </a:pPr>
            <a:r>
              <a:rPr sz="2500" b="1" i="0">
                <a:solidFill>
                  <a:srgbClr val="FFFFFF"/>
                </a:solidFill>
                <a:latin typeface="Calibri"/>
              </a:rPr>
              <a:t>One discount policy is running two different businesses</a:t>
            </a:r>
          </a:p>
          <a:p>
            <a:pPr algn="l">
              <a:spcAft>
                <a:spcPts val="0"/>
              </a:spcAft>
            </a:pPr>
            <a:r>
              <a:rPr sz="1300" b="0" i="0">
                <a:solidFill>
                  <a:srgbClr val="C3C2B7"/>
                </a:solidFill>
                <a:latin typeface="Calibri"/>
              </a:rPr>
              <a:t>Electronics crosses into loss above a 10% discount; the rest of the business still earns double digits at 25% off</a:t>
            </a:r>
          </a:p>
        </p:txBody>
      </p:sp>
      <p:sp>
        <p:nvSpPr>
          <p:cNvPr id="3" name="Rectangle 2"/>
          <p:cNvSpPr/>
          <p:nvPr/>
        </p:nvSpPr>
        <p:spPr>
          <a:xfrm>
            <a:off x="566928" y="1527048"/>
            <a:ext cx="1280160" cy="28575"/>
          </a:xfrm>
          <a:prstGeom prst="rect">
            <a:avLst/>
          </a:prstGeom>
          <a:gradFill rotWithShape="1">
            <a:gsLst>
              <a:gs pos="0">
                <a:srgbClr val="3987E5"/>
              </a:gs>
              <a:gs pos="100000">
                <a:srgbClr val="9085E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6_discount_tolerance.png"/>
          <p:cNvPicPr>
            <a:picLocks noChangeAspect="1"/>
          </p:cNvPicPr>
          <p:nvPr/>
        </p:nvPicPr>
        <p:blipFill>
          <a:blip r:embed="rId2"/>
          <a:stretch>
            <a:fillRect/>
          </a:stretch>
        </p:blipFill>
        <p:spPr>
          <a:xfrm>
            <a:off x="1401927" y="1691640"/>
            <a:ext cx="9387840" cy="4023360"/>
          </a:xfrm>
          <a:prstGeom prst="rect">
            <a:avLst/>
          </a:prstGeom>
        </p:spPr>
      </p:pic>
      <p:sp>
        <p:nvSpPr>
          <p:cNvPr id="5" name="TextBox 4"/>
          <p:cNvSpPr txBox="1"/>
          <p:nvPr/>
        </p:nvSpPr>
        <p:spPr>
          <a:xfrm>
            <a:off x="566928" y="5742432"/>
            <a:ext cx="11057839" cy="960120"/>
          </a:xfrm>
          <a:prstGeom prst="rect">
            <a:avLst/>
          </a:prstGeom>
          <a:noFill/>
        </p:spPr>
        <p:txBody>
          <a:bodyPr wrap="square" anchor="t">
            <a:spAutoFit/>
          </a:bodyPr>
          <a:lstStyle/>
          <a:p>
            <a:pPr algn="l">
              <a:spcAft>
                <a:spcPts val="700"/>
              </a:spcAft>
            </a:pPr>
            <a:r>
              <a:rPr sz="1400" b="0" i="0">
                <a:solidFill>
                  <a:srgbClr val="C3C2B7"/>
                </a:solidFill>
                <a:latin typeface="Calibri"/>
              </a:rPr>
              <a:t>Flash Deals (average discount 24%, 10% of revenue) are the only promotion type with a negative margin, at -2.0%. Un-promoted demand earns 15.2%.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9"/>
        </a:solidFill>
        <a:effectLst/>
      </p:bgPr>
    </p:bg>
    <p:spTree>
      <p:nvGrpSpPr>
        <p:cNvPr id="1" name=""/>
        <p:cNvGrpSpPr/>
        <p:nvPr/>
      </p:nvGrpSpPr>
      <p:grpSpPr/>
      <p:sp>
        <p:nvSpPr>
          <p:cNvPr id="2" name="TextBox 1"/>
          <p:cNvSpPr txBox="1"/>
          <p:nvPr/>
        </p:nvSpPr>
        <p:spPr>
          <a:xfrm>
            <a:off x="566928" y="365760"/>
            <a:ext cx="11057839" cy="1143000"/>
          </a:xfrm>
          <a:prstGeom prst="rect">
            <a:avLst/>
          </a:prstGeom>
          <a:noFill/>
        </p:spPr>
        <p:txBody>
          <a:bodyPr wrap="square" anchor="t">
            <a:spAutoFit/>
          </a:bodyPr>
          <a:lstStyle/>
          <a:p>
            <a:pPr algn="l">
              <a:spcAft>
                <a:spcPts val="400"/>
              </a:spcAft>
            </a:pPr>
            <a:r>
              <a:rPr sz="2500" b="1" i="0">
                <a:solidFill>
                  <a:srgbClr val="FFFFFF"/>
                </a:solidFill>
                <a:latin typeface="Calibri"/>
              </a:rPr>
              <a:t>Product mix explains profitability. Geography and fulfilment barely move it.</a:t>
            </a:r>
          </a:p>
          <a:p>
            <a:pPr algn="l">
              <a:spcAft>
                <a:spcPts val="0"/>
              </a:spcAft>
            </a:pPr>
            <a:r>
              <a:rPr sz="1300" b="0" i="0">
                <a:solidFill>
                  <a:srgbClr val="C3C2B7"/>
                </a:solidFill>
                <a:latin typeface="Calibri"/>
              </a:rPr>
              <a:t>Ranked by how much each lens actually separates margin, weighted by the revenue it splits</a:t>
            </a:r>
          </a:p>
        </p:txBody>
      </p:sp>
      <p:sp>
        <p:nvSpPr>
          <p:cNvPr id="3" name="Rectangle 2"/>
          <p:cNvSpPr/>
          <p:nvPr/>
        </p:nvSpPr>
        <p:spPr>
          <a:xfrm>
            <a:off x="566928" y="1527048"/>
            <a:ext cx="1280160" cy="28575"/>
          </a:xfrm>
          <a:prstGeom prst="rect">
            <a:avLst/>
          </a:prstGeom>
          <a:gradFill rotWithShape="1">
            <a:gsLst>
              <a:gs pos="0">
                <a:srgbClr val="3987E5"/>
              </a:gs>
              <a:gs pos="100000">
                <a:srgbClr val="9085E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7_driver_ranking.png"/>
          <p:cNvPicPr>
            <a:picLocks noChangeAspect="1"/>
          </p:cNvPicPr>
          <p:nvPr/>
        </p:nvPicPr>
        <p:blipFill>
          <a:blip r:embed="rId2"/>
          <a:stretch>
            <a:fillRect/>
          </a:stretch>
        </p:blipFill>
        <p:spPr>
          <a:xfrm>
            <a:off x="1401927" y="1691640"/>
            <a:ext cx="9387840" cy="4023360"/>
          </a:xfrm>
          <a:prstGeom prst="rect">
            <a:avLst/>
          </a:prstGeom>
        </p:spPr>
      </p:pic>
      <p:sp>
        <p:nvSpPr>
          <p:cNvPr id="5" name="TextBox 4"/>
          <p:cNvSpPr txBox="1"/>
          <p:nvPr/>
        </p:nvSpPr>
        <p:spPr>
          <a:xfrm>
            <a:off x="566928" y="5742432"/>
            <a:ext cx="11057839" cy="960120"/>
          </a:xfrm>
          <a:prstGeom prst="rect">
            <a:avLst/>
          </a:prstGeom>
          <a:noFill/>
        </p:spPr>
        <p:txBody>
          <a:bodyPr wrap="square" anchor="t">
            <a:spAutoFit/>
          </a:bodyPr>
          <a:lstStyle/>
          <a:p>
            <a:pPr algn="l">
              <a:spcAft>
                <a:spcPts val="700"/>
              </a:spcAft>
            </a:pPr>
            <a:r>
              <a:rPr sz="1400" b="0" i="0">
                <a:solidFill>
                  <a:srgbClr val="C3C2B7"/>
                </a:solidFill>
                <a:latin typeface="Calibri"/>
              </a:rPr>
              <a:t>Region spreads margin by 0.8 points; product subcategory by 15.1. The regional debate in the leadership meeting is a debate about the wrong variable.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19"/>
        </a:solidFill>
        <a:effectLst/>
      </p:bgPr>
    </p:bg>
    <p:spTree>
      <p:nvGrpSpPr>
        <p:cNvPr id="1" name=""/>
        <p:cNvGrpSpPr/>
        <p:nvPr/>
      </p:nvGrpSpPr>
      <p:grpSpPr/>
      <p:sp>
        <p:nvSpPr>
          <p:cNvPr id="2" name="TextBox 1"/>
          <p:cNvSpPr txBox="1"/>
          <p:nvPr/>
        </p:nvSpPr>
        <p:spPr>
          <a:xfrm>
            <a:off x="566928" y="365760"/>
            <a:ext cx="11057839" cy="1143000"/>
          </a:xfrm>
          <a:prstGeom prst="rect">
            <a:avLst/>
          </a:prstGeom>
          <a:noFill/>
        </p:spPr>
        <p:txBody>
          <a:bodyPr wrap="square" anchor="t">
            <a:spAutoFit/>
          </a:bodyPr>
          <a:lstStyle/>
          <a:p>
            <a:pPr algn="l">
              <a:spcAft>
                <a:spcPts val="400"/>
              </a:spcAft>
            </a:pPr>
            <a:r>
              <a:rPr sz="2500" b="1" i="0">
                <a:solidFill>
                  <a:srgbClr val="FFFFFF"/>
                </a:solidFill>
                <a:latin typeface="Calibri"/>
              </a:rPr>
              <a:t>The chart that would have sent us after the wrong problem</a:t>
            </a:r>
          </a:p>
          <a:p>
            <a:pPr algn="l">
              <a:spcAft>
                <a:spcPts val="0"/>
              </a:spcAft>
            </a:pPr>
            <a:r>
              <a:rPr sz="1300" b="0" i="0">
                <a:solidFill>
                  <a:srgbClr val="C3C2B7"/>
                </a:solidFill>
                <a:latin typeface="Calibri"/>
              </a:rPr>
              <a:t>Premium looks like our worst segment until you separate what it buys</a:t>
            </a:r>
          </a:p>
        </p:txBody>
      </p:sp>
      <p:sp>
        <p:nvSpPr>
          <p:cNvPr id="3" name="Rectangle 2"/>
          <p:cNvSpPr/>
          <p:nvPr/>
        </p:nvSpPr>
        <p:spPr>
          <a:xfrm>
            <a:off x="566928" y="1527048"/>
            <a:ext cx="1280160" cy="28575"/>
          </a:xfrm>
          <a:prstGeom prst="rect">
            <a:avLst/>
          </a:prstGeom>
          <a:gradFill rotWithShape="1">
            <a:gsLst>
              <a:gs pos="0">
                <a:srgbClr val="3987E5"/>
              </a:gs>
              <a:gs pos="100000">
                <a:srgbClr val="9085E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8_misleading_pair.png"/>
          <p:cNvPicPr>
            <a:picLocks noChangeAspect="1"/>
          </p:cNvPicPr>
          <p:nvPr/>
        </p:nvPicPr>
        <p:blipFill>
          <a:blip r:embed="rId2"/>
          <a:stretch>
            <a:fillRect/>
          </a:stretch>
        </p:blipFill>
        <p:spPr>
          <a:xfrm>
            <a:off x="1401927" y="1691640"/>
            <a:ext cx="9387840" cy="4023360"/>
          </a:xfrm>
          <a:prstGeom prst="rect">
            <a:avLst/>
          </a:prstGeom>
        </p:spPr>
      </p:pic>
      <p:sp>
        <p:nvSpPr>
          <p:cNvPr id="5" name="TextBox 4"/>
          <p:cNvSpPr txBox="1"/>
          <p:nvPr/>
        </p:nvSpPr>
        <p:spPr>
          <a:xfrm>
            <a:off x="566928" y="5742432"/>
            <a:ext cx="11057839" cy="960120"/>
          </a:xfrm>
          <a:prstGeom prst="rect">
            <a:avLst/>
          </a:prstGeom>
          <a:noFill/>
        </p:spPr>
        <p:txBody>
          <a:bodyPr wrap="square" anchor="t">
            <a:spAutoFit/>
          </a:bodyPr>
          <a:lstStyle/>
          <a:p>
            <a:pPr algn="l">
              <a:spcAft>
                <a:spcPts val="700"/>
              </a:spcAft>
            </a:pPr>
            <a:r>
              <a:rPr sz="1400" b="0" i="0">
                <a:solidFill>
                  <a:srgbClr val="C3C2B7"/>
                </a:solidFill>
                <a:latin typeface="Calibri"/>
              </a:rPr>
              <a:t>Premium's pooled margin is 2.9%. Outside Electronics it is 21.9%, which is ordinary. 66% of Premium's revenue is Electronics.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19"/>
        </a:solidFill>
        <a:effectLst/>
      </p:bgPr>
    </p:bg>
    <p:spTree>
      <p:nvGrpSpPr>
        <p:cNvPr id="1" name=""/>
        <p:cNvGrpSpPr/>
        <p:nvPr/>
      </p:nvGrpSpPr>
      <p:grpSpPr/>
      <p:sp>
        <p:nvSpPr>
          <p:cNvPr id="2" name="TextBox 1"/>
          <p:cNvSpPr txBox="1"/>
          <p:nvPr/>
        </p:nvSpPr>
        <p:spPr>
          <a:xfrm>
            <a:off x="566928" y="365760"/>
            <a:ext cx="11057839" cy="1143000"/>
          </a:xfrm>
          <a:prstGeom prst="rect">
            <a:avLst/>
          </a:prstGeom>
          <a:noFill/>
        </p:spPr>
        <p:txBody>
          <a:bodyPr wrap="square" anchor="t">
            <a:spAutoFit/>
          </a:bodyPr>
          <a:lstStyle/>
          <a:p>
            <a:pPr algn="l">
              <a:spcAft>
                <a:spcPts val="400"/>
              </a:spcAft>
            </a:pPr>
            <a:r>
              <a:rPr sz="2500" b="1" i="0">
                <a:solidFill>
                  <a:srgbClr val="FFFFFF"/>
                </a:solidFill>
                <a:latin typeface="Calibri"/>
              </a:rPr>
              <a:t>One thing is already working, and it is not where we were about to cut</a:t>
            </a:r>
          </a:p>
          <a:p>
            <a:pPr algn="l">
              <a:spcAft>
                <a:spcPts val="0"/>
              </a:spcAft>
            </a:pPr>
            <a:r>
              <a:rPr sz="1300" b="0" i="0">
                <a:solidFill>
                  <a:srgbClr val="C3C2B7"/>
                </a:solidFill>
                <a:latin typeface="Calibri"/>
              </a:rPr>
              <a:t>On-time delivery went from 34% to 55% after the January 2025 logistics contract; complaints fell from 10.1% to 6.9%</a:t>
            </a:r>
          </a:p>
        </p:txBody>
      </p:sp>
      <p:sp>
        <p:nvSpPr>
          <p:cNvPr id="3" name="Rectangle 2"/>
          <p:cNvSpPr/>
          <p:nvPr/>
        </p:nvSpPr>
        <p:spPr>
          <a:xfrm>
            <a:off x="566928" y="1527048"/>
            <a:ext cx="1280160" cy="28575"/>
          </a:xfrm>
          <a:prstGeom prst="rect">
            <a:avLst/>
          </a:prstGeom>
          <a:gradFill rotWithShape="1">
            <a:gsLst>
              <a:gs pos="0">
                <a:srgbClr val="3987E5"/>
              </a:gs>
              <a:gs pos="100000">
                <a:srgbClr val="9085E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9_on_time_monthly.png"/>
          <p:cNvPicPr>
            <a:picLocks noChangeAspect="1"/>
          </p:cNvPicPr>
          <p:nvPr/>
        </p:nvPicPr>
        <p:blipFill>
          <a:blip r:embed="rId2"/>
          <a:stretch>
            <a:fillRect/>
          </a:stretch>
        </p:blipFill>
        <p:spPr>
          <a:xfrm>
            <a:off x="1401927" y="1691640"/>
            <a:ext cx="9387840" cy="4023360"/>
          </a:xfrm>
          <a:prstGeom prst="rect">
            <a:avLst/>
          </a:prstGeom>
        </p:spPr>
      </p:pic>
      <p:sp>
        <p:nvSpPr>
          <p:cNvPr id="5" name="TextBox 4"/>
          <p:cNvSpPr txBox="1"/>
          <p:nvPr/>
        </p:nvSpPr>
        <p:spPr>
          <a:xfrm>
            <a:off x="566928" y="5742432"/>
            <a:ext cx="11057839" cy="960120"/>
          </a:xfrm>
          <a:prstGeom prst="rect">
            <a:avLst/>
          </a:prstGeom>
          <a:noFill/>
        </p:spPr>
        <p:txBody>
          <a:bodyPr wrap="square" anchor="t">
            <a:spAutoFit/>
          </a:bodyPr>
          <a:lstStyle/>
          <a:p>
            <a:pPr algn="l">
              <a:spcAft>
                <a:spcPts val="700"/>
              </a:spcAft>
            </a:pPr>
            <a:r>
              <a:rPr sz="1400" b="0" i="0">
                <a:solidFill>
                  <a:srgbClr val="C3C2B7"/>
                </a:solidFill>
                <a:latin typeface="Calibri"/>
              </a:rPr>
              <a:t>It cost about ₹45 more per order. The company-wide average of 43% hides both the step change and the festive collapse: peak on-time was still only 34% last October and November.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566928" y="3035808"/>
            <a:ext cx="822960" cy="28575"/>
          </a:xfrm>
          <a:prstGeom prst="rect">
            <a:avLst/>
          </a:prstGeom>
          <a:gradFill rotWithShape="1">
            <a:gsLst>
              <a:gs pos="0">
                <a:srgbClr val="3987E5"/>
              </a:gs>
              <a:gs pos="100000">
                <a:srgbClr val="9085E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148840"/>
            <a:ext cx="11057839" cy="2194560"/>
          </a:xfrm>
          <a:prstGeom prst="rect">
            <a:avLst/>
          </a:prstGeom>
          <a:noFill/>
        </p:spPr>
        <p:txBody>
          <a:bodyPr wrap="square" anchor="t">
            <a:spAutoFit/>
          </a:bodyPr>
          <a:lstStyle/>
          <a:p>
            <a:pPr algn="l">
              <a:spcAft>
                <a:spcPts val="1000"/>
              </a:spcAft>
            </a:pPr>
            <a:r>
              <a:rPr sz="1400" b="1" i="0">
                <a:solidFill>
                  <a:srgbClr val="3987E5"/>
                </a:solidFill>
                <a:latin typeface="Calibri"/>
              </a:rPr>
              <a:t>DECISION</a:t>
            </a:r>
          </a:p>
          <a:p>
            <a:pPr algn="l">
              <a:spcAft>
                <a:spcPts val="0"/>
              </a:spcAft>
            </a:pPr>
            <a:r>
              <a:rPr sz="3600" b="1" i="0">
                <a:solidFill>
                  <a:srgbClr val="FFFFFF"/>
                </a:solidFill>
                <a:latin typeface="Calibri"/>
              </a:rPr>
              <a:t>Three actions, in priority order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A19"/>
        </a:solidFill>
        <a:effectLst/>
      </p:bgPr>
    </p:bg>
    <p:spTree>
      <p:nvGrpSpPr>
        <p:cNvPr id="1" name=""/>
        <p:cNvGrpSpPr/>
        <p:nvPr/>
      </p:nvGrpSpPr>
      <p:grpSpPr/>
      <p:sp>
        <p:nvSpPr>
          <p:cNvPr id="2" name="TextBox 1"/>
          <p:cNvSpPr txBox="1"/>
          <p:nvPr/>
        </p:nvSpPr>
        <p:spPr>
          <a:xfrm>
            <a:off x="566928" y="457200"/>
            <a:ext cx="11057839" cy="914400"/>
          </a:xfrm>
          <a:prstGeom prst="rect">
            <a:avLst/>
          </a:prstGeom>
          <a:noFill/>
        </p:spPr>
        <p:txBody>
          <a:bodyPr wrap="square" anchor="t">
            <a:spAutoFit/>
          </a:bodyPr>
          <a:lstStyle/>
          <a:p>
            <a:pPr algn="l">
              <a:spcAft>
                <a:spcPts val="400"/>
              </a:spcAft>
            </a:pPr>
            <a:r>
              <a:rPr sz="2600" b="1" i="0">
                <a:solidFill>
                  <a:srgbClr val="FFFFFF"/>
                </a:solidFill>
                <a:latin typeface="Calibri"/>
              </a:rPr>
              <a:t>Where to invest, where to change course</a:t>
            </a:r>
          </a:p>
          <a:p>
            <a:pPr algn="l">
              <a:spcAft>
                <a:spcPts val="0"/>
              </a:spcAft>
            </a:pPr>
            <a:r>
              <a:rPr sz="1400" b="0" i="0">
                <a:solidFill>
                  <a:srgbClr val="C3C2B7"/>
                </a:solidFill>
                <a:latin typeface="Calibri"/>
              </a:rPr>
              <a:t>Each sized by the contribution at stake, each with the one thing we would want to know before committing</a:t>
            </a:r>
          </a:p>
        </p:txBody>
      </p:sp>
      <p:sp>
        <p:nvSpPr>
          <p:cNvPr id="3" name="Rectangle 2"/>
          <p:cNvSpPr/>
          <p:nvPr/>
        </p:nvSpPr>
        <p:spPr>
          <a:xfrm>
            <a:off x="566928" y="1325880"/>
            <a:ext cx="1280160" cy="28575"/>
          </a:xfrm>
          <a:prstGeom prst="rect">
            <a:avLst/>
          </a:prstGeom>
          <a:gradFill rotWithShape="1">
            <a:gsLst>
              <a:gs pos="0">
                <a:srgbClr val="3987E5"/>
              </a:gs>
              <a:gs pos="100000">
                <a:srgbClr val="9085E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691640"/>
            <a:ext cx="3515258" cy="4206240"/>
          </a:xfrm>
          <a:prstGeom prst="rect">
            <a:avLst/>
          </a:prstGeom>
          <a:solidFill>
            <a:srgbClr val="242422"/>
          </a:solidFill>
          <a:ln w="9525">
            <a:solidFill>
              <a:srgbClr val="3838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691640"/>
            <a:ext cx="3515258" cy="45720"/>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1920240"/>
            <a:ext cx="3112922" cy="3749039"/>
          </a:xfrm>
          <a:prstGeom prst="rect">
            <a:avLst/>
          </a:prstGeom>
          <a:noFill/>
        </p:spPr>
        <p:txBody>
          <a:bodyPr wrap="square" anchor="t">
            <a:spAutoFit/>
          </a:bodyPr>
          <a:lstStyle/>
          <a:p>
            <a:pPr algn="l">
              <a:spcAft>
                <a:spcPts val="600"/>
              </a:spcAft>
            </a:pPr>
            <a:r>
              <a:rPr sz="1000" b="1" i="0">
                <a:solidFill>
                  <a:srgbClr val="898781"/>
                </a:solidFill>
                <a:latin typeface="Calibri"/>
              </a:rPr>
              <a:t>PRIORITY 1</a:t>
            </a:r>
          </a:p>
          <a:p>
            <a:pPr algn="l">
              <a:spcAft>
                <a:spcPts val="1000"/>
              </a:spcAft>
            </a:pPr>
            <a:r>
              <a:rPr sz="1500" b="1" i="0">
                <a:solidFill>
                  <a:srgbClr val="FFFFFF"/>
                </a:solidFill>
                <a:latin typeface="Calibri"/>
              </a:rPr>
              <a:t>Re-cost and re-price Electronics before scaling it</a:t>
            </a:r>
          </a:p>
          <a:p>
            <a:pPr algn="l">
              <a:spcAft>
                <a:spcPts val="100"/>
              </a:spcAft>
            </a:pPr>
            <a:r>
              <a:rPr sz="900" b="1" i="0">
                <a:solidFill>
                  <a:srgbClr val="898781"/>
                </a:solidFill>
                <a:latin typeface="Calibri"/>
              </a:rPr>
              <a:t>EVIDENCE</a:t>
            </a:r>
          </a:p>
          <a:p>
            <a:pPr algn="l">
              <a:spcAft>
                <a:spcPts val="700"/>
              </a:spcAft>
            </a:pPr>
            <a:r>
              <a:rPr sz="1100" b="0" i="0">
                <a:solidFill>
                  <a:srgbClr val="C3C2B7"/>
                </a:solidFill>
                <a:latin typeface="Calibri"/>
              </a:rPr>
              <a:t>51% of revenue at -4.9% margin; merchandise costs 94% of net revenue</a:t>
            </a:r>
          </a:p>
          <a:p>
            <a:pPr algn="l">
              <a:spcAft>
                <a:spcPts val="100"/>
              </a:spcAft>
            </a:pPr>
            <a:r>
              <a:rPr sz="900" b="1" i="0">
                <a:solidFill>
                  <a:srgbClr val="898781"/>
                </a:solidFill>
                <a:latin typeface="Calibri"/>
              </a:rPr>
              <a:t>BENEFIT</a:t>
            </a:r>
          </a:p>
          <a:p>
            <a:pPr algn="l">
              <a:spcAft>
                <a:spcPts val="700"/>
              </a:spcAft>
            </a:pPr>
            <a:r>
              <a:rPr sz="1100" b="0" i="0">
                <a:solidFill>
                  <a:srgbClr val="C3C2B7"/>
                </a:solidFill>
                <a:latin typeface="Calibri"/>
              </a:rPr>
              <a:t>the largest single pool of lost contribution, recoverable without touching demand elsewhere</a:t>
            </a:r>
          </a:p>
          <a:p>
            <a:pPr algn="l">
              <a:spcAft>
                <a:spcPts val="100"/>
              </a:spcAft>
            </a:pPr>
            <a:r>
              <a:rPr sz="900" b="1" i="0">
                <a:solidFill>
                  <a:srgbClr val="898781"/>
                </a:solidFill>
                <a:latin typeface="Calibri"/>
              </a:rPr>
              <a:t>RISK</a:t>
            </a:r>
          </a:p>
          <a:p>
            <a:pPr algn="l">
              <a:spcAft>
                <a:spcPts val="700"/>
              </a:spcAft>
            </a:pPr>
            <a:r>
              <a:rPr sz="1100" b="0" i="0">
                <a:solidFill>
                  <a:srgbClr val="C3C2B7"/>
                </a:solidFill>
                <a:latin typeface="Calibri"/>
              </a:rPr>
              <a:t>Electronics drives traffic and attached sales; repricing may cost volume</a:t>
            </a:r>
          </a:p>
          <a:p>
            <a:pPr algn="l">
              <a:spcAft>
                <a:spcPts val="100"/>
              </a:spcAft>
            </a:pPr>
            <a:r>
              <a:rPr sz="900" b="1" i="0">
                <a:solidFill>
                  <a:srgbClr val="898781"/>
                </a:solidFill>
                <a:latin typeface="Calibri"/>
              </a:rPr>
              <a:t>WE WOULD NEED</a:t>
            </a:r>
          </a:p>
          <a:p>
            <a:pPr algn="l">
              <a:spcAft>
                <a:spcPts val="700"/>
              </a:spcAft>
            </a:pPr>
            <a:r>
              <a:rPr sz="1100" b="0" i="0">
                <a:solidFill>
                  <a:srgbClr val="C3C2B7"/>
                </a:solidFill>
                <a:latin typeface="Calibri"/>
              </a:rPr>
              <a:t>SKU-level cost and competitor price data</a:t>
            </a:r>
          </a:p>
        </p:txBody>
      </p:sp>
      <p:sp>
        <p:nvSpPr>
          <p:cNvPr id="7" name="Rectangle 6"/>
          <p:cNvSpPr/>
          <p:nvPr/>
        </p:nvSpPr>
        <p:spPr>
          <a:xfrm>
            <a:off x="4338218" y="1691640"/>
            <a:ext cx="3515258" cy="4206240"/>
          </a:xfrm>
          <a:prstGeom prst="rect">
            <a:avLst/>
          </a:prstGeom>
          <a:solidFill>
            <a:srgbClr val="242422"/>
          </a:solidFill>
          <a:ln w="9525">
            <a:solidFill>
              <a:srgbClr val="3838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38218" y="1691640"/>
            <a:ext cx="3515258" cy="45720"/>
          </a:xfrm>
          <a:prstGeom prst="rect">
            <a:avLst/>
          </a:prstGeom>
          <a:solidFill>
            <a:srgbClr val="EC8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9386" y="1920240"/>
            <a:ext cx="3112922" cy="3749039"/>
          </a:xfrm>
          <a:prstGeom prst="rect">
            <a:avLst/>
          </a:prstGeom>
          <a:noFill/>
        </p:spPr>
        <p:txBody>
          <a:bodyPr wrap="square" anchor="t">
            <a:spAutoFit/>
          </a:bodyPr>
          <a:lstStyle/>
          <a:p>
            <a:pPr algn="l">
              <a:spcAft>
                <a:spcPts val="600"/>
              </a:spcAft>
            </a:pPr>
            <a:r>
              <a:rPr sz="1000" b="1" i="0">
                <a:solidFill>
                  <a:srgbClr val="898781"/>
                </a:solidFill>
                <a:latin typeface="Calibri"/>
              </a:rPr>
              <a:t>PRIORITY 2</a:t>
            </a:r>
          </a:p>
          <a:p>
            <a:pPr algn="l">
              <a:spcAft>
                <a:spcPts val="1000"/>
              </a:spcAft>
            </a:pPr>
            <a:r>
              <a:rPr sz="1500" b="1" i="0">
                <a:solidFill>
                  <a:srgbClr val="FFFFFF"/>
                </a:solidFill>
                <a:latin typeface="Calibri"/>
              </a:rPr>
              <a:t>Set a category-aware discount ceiling; retire Flash Deals</a:t>
            </a:r>
          </a:p>
          <a:p>
            <a:pPr algn="l">
              <a:spcAft>
                <a:spcPts val="100"/>
              </a:spcAft>
            </a:pPr>
            <a:r>
              <a:rPr sz="900" b="1" i="0">
                <a:solidFill>
                  <a:srgbClr val="898781"/>
                </a:solidFill>
                <a:latin typeface="Calibri"/>
              </a:rPr>
              <a:t>EVIDENCE</a:t>
            </a:r>
          </a:p>
          <a:p>
            <a:pPr algn="l">
              <a:spcAft>
                <a:spcPts val="700"/>
              </a:spcAft>
            </a:pPr>
            <a:r>
              <a:rPr sz="1100" b="0" i="0">
                <a:solidFill>
                  <a:srgbClr val="C3C2B7"/>
                </a:solidFill>
                <a:latin typeface="Calibri"/>
              </a:rPr>
              <a:t>Electronics turns loss-making above 10% off while the rest of the business earns 10%+ at 25%; Flash Deals run at -2.0%</a:t>
            </a:r>
          </a:p>
          <a:p>
            <a:pPr algn="l">
              <a:spcAft>
                <a:spcPts val="100"/>
              </a:spcAft>
            </a:pPr>
            <a:r>
              <a:rPr sz="900" b="1" i="0">
                <a:solidFill>
                  <a:srgbClr val="898781"/>
                </a:solidFill>
                <a:latin typeface="Calibri"/>
              </a:rPr>
              <a:t>BENEFIT</a:t>
            </a:r>
          </a:p>
          <a:p>
            <a:pPr algn="l">
              <a:spcAft>
                <a:spcPts val="700"/>
              </a:spcAft>
            </a:pPr>
            <a:r>
              <a:rPr sz="1100" b="0" i="0">
                <a:solidFill>
                  <a:srgbClr val="C3C2B7"/>
                </a:solidFill>
                <a:latin typeface="Calibri"/>
              </a:rPr>
              <a:t>enforceable in the pricing system next quarter. A rule, not a bet</a:t>
            </a:r>
          </a:p>
          <a:p>
            <a:pPr algn="l">
              <a:spcAft>
                <a:spcPts val="100"/>
              </a:spcAft>
            </a:pPr>
            <a:r>
              <a:rPr sz="900" b="1" i="0">
                <a:solidFill>
                  <a:srgbClr val="898781"/>
                </a:solidFill>
                <a:latin typeface="Calibri"/>
              </a:rPr>
              <a:t>RISK</a:t>
            </a:r>
          </a:p>
          <a:p>
            <a:pPr algn="l">
              <a:spcAft>
                <a:spcPts val="700"/>
              </a:spcAft>
            </a:pPr>
            <a:r>
              <a:rPr sz="1100" b="0" i="0">
                <a:solidFill>
                  <a:srgbClr val="C3C2B7"/>
                </a:solidFill>
                <a:latin typeface="Calibri"/>
              </a:rPr>
              <a:t>promotion is partly defensive; volume may move to competitors</a:t>
            </a:r>
          </a:p>
          <a:p>
            <a:pPr algn="l">
              <a:spcAft>
                <a:spcPts val="100"/>
              </a:spcAft>
            </a:pPr>
            <a:r>
              <a:rPr sz="900" b="1" i="0">
                <a:solidFill>
                  <a:srgbClr val="898781"/>
                </a:solidFill>
                <a:latin typeface="Calibri"/>
              </a:rPr>
              <a:t>WE WOULD NEED</a:t>
            </a:r>
          </a:p>
          <a:p>
            <a:pPr algn="l">
              <a:spcAft>
                <a:spcPts val="700"/>
              </a:spcAft>
            </a:pPr>
            <a:r>
              <a:rPr sz="1100" b="0" i="0">
                <a:solidFill>
                  <a:srgbClr val="C3C2B7"/>
                </a:solidFill>
                <a:latin typeface="Calibri"/>
              </a:rPr>
              <a:t>promotion incrementality, meaning what these orders would have done unpromoted</a:t>
            </a:r>
          </a:p>
        </p:txBody>
      </p:sp>
      <p:sp>
        <p:nvSpPr>
          <p:cNvPr id="10" name="Rectangle 9"/>
          <p:cNvSpPr/>
          <p:nvPr/>
        </p:nvSpPr>
        <p:spPr>
          <a:xfrm>
            <a:off x="8109508" y="1691640"/>
            <a:ext cx="3515258" cy="4206240"/>
          </a:xfrm>
          <a:prstGeom prst="rect">
            <a:avLst/>
          </a:prstGeom>
          <a:solidFill>
            <a:srgbClr val="242422"/>
          </a:solidFill>
          <a:ln w="9525">
            <a:solidFill>
              <a:srgbClr val="3838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09508" y="1691640"/>
            <a:ext cx="3515258" cy="45720"/>
          </a:xfrm>
          <a:prstGeom prst="rect">
            <a:avLst/>
          </a:prstGeom>
          <a:solidFill>
            <a:srgbClr val="FAB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10676" y="1920240"/>
            <a:ext cx="3112922" cy="3749039"/>
          </a:xfrm>
          <a:prstGeom prst="rect">
            <a:avLst/>
          </a:prstGeom>
          <a:noFill/>
        </p:spPr>
        <p:txBody>
          <a:bodyPr wrap="square" anchor="t">
            <a:spAutoFit/>
          </a:bodyPr>
          <a:lstStyle/>
          <a:p>
            <a:pPr algn="l">
              <a:spcAft>
                <a:spcPts val="600"/>
              </a:spcAft>
            </a:pPr>
            <a:r>
              <a:rPr sz="1000" b="1" i="0">
                <a:solidFill>
                  <a:srgbClr val="898781"/>
                </a:solidFill>
                <a:latin typeface="Calibri"/>
              </a:rPr>
              <a:t>PRIORITY 3</a:t>
            </a:r>
          </a:p>
          <a:p>
            <a:pPr algn="l">
              <a:spcAft>
                <a:spcPts val="1000"/>
              </a:spcAft>
            </a:pPr>
            <a:r>
              <a:rPr sz="1500" b="1" i="0">
                <a:solidFill>
                  <a:srgbClr val="FFFFFF"/>
                </a:solidFill>
                <a:latin typeface="Calibri"/>
              </a:rPr>
              <a:t>Underwrite acquisition on contribution, not revenue</a:t>
            </a:r>
          </a:p>
          <a:p>
            <a:pPr algn="l">
              <a:spcAft>
                <a:spcPts val="100"/>
              </a:spcAft>
            </a:pPr>
            <a:r>
              <a:rPr sz="900" b="1" i="0">
                <a:solidFill>
                  <a:srgbClr val="898781"/>
                </a:solidFill>
                <a:latin typeface="Calibri"/>
              </a:rPr>
              <a:t>EVIDENCE</a:t>
            </a:r>
          </a:p>
          <a:p>
            <a:pPr algn="l">
              <a:spcAft>
                <a:spcPts val="700"/>
              </a:spcAft>
            </a:pPr>
            <a:r>
              <a:rPr sz="1100" b="0" i="0">
                <a:solidFill>
                  <a:srgbClr val="C3C2B7"/>
                </a:solidFill>
                <a:latin typeface="Calibri"/>
              </a:rPr>
              <a:t>revenue per month +77% against profit per month +14%; paid channels fell furthest and spend the most per rupee earned</a:t>
            </a:r>
          </a:p>
          <a:p>
            <a:pPr algn="l">
              <a:spcAft>
                <a:spcPts val="100"/>
              </a:spcAft>
            </a:pPr>
            <a:r>
              <a:rPr sz="900" b="1" i="0">
                <a:solidFill>
                  <a:srgbClr val="898781"/>
                </a:solidFill>
                <a:latin typeface="Calibri"/>
              </a:rPr>
              <a:t>BENEFIT</a:t>
            </a:r>
          </a:p>
          <a:p>
            <a:pPr algn="l">
              <a:spcAft>
                <a:spcPts val="700"/>
              </a:spcAft>
            </a:pPr>
            <a:r>
              <a:rPr sz="1100" b="0" i="0">
                <a:solidFill>
                  <a:srgbClr val="C3C2B7"/>
                </a:solidFill>
                <a:latin typeface="Calibri"/>
              </a:rPr>
              <a:t>protects growth while it stops us buying revenue that carries almost no contribution</a:t>
            </a:r>
          </a:p>
          <a:p>
            <a:pPr algn="l">
              <a:spcAft>
                <a:spcPts val="100"/>
              </a:spcAft>
            </a:pPr>
            <a:r>
              <a:rPr sz="900" b="1" i="0">
                <a:solidFill>
                  <a:srgbClr val="898781"/>
                </a:solidFill>
                <a:latin typeface="Calibri"/>
              </a:rPr>
              <a:t>RISK</a:t>
            </a:r>
          </a:p>
          <a:p>
            <a:pPr algn="l">
              <a:spcAft>
                <a:spcPts val="700"/>
              </a:spcAft>
            </a:pPr>
            <a:r>
              <a:rPr sz="1100" b="0" i="0">
                <a:solidFill>
                  <a:srgbClr val="C3C2B7"/>
                </a:solidFill>
                <a:latin typeface="Calibri"/>
              </a:rPr>
              <a:t>paid channels may be seeding customers whose value appears later</a:t>
            </a:r>
          </a:p>
          <a:p>
            <a:pPr algn="l">
              <a:spcAft>
                <a:spcPts val="100"/>
              </a:spcAft>
            </a:pPr>
            <a:r>
              <a:rPr sz="900" b="1" i="0">
                <a:solidFill>
                  <a:srgbClr val="898781"/>
                </a:solidFill>
                <a:latin typeface="Calibri"/>
              </a:rPr>
              <a:t>WE WOULD NEED</a:t>
            </a:r>
          </a:p>
          <a:p>
            <a:pPr algn="l">
              <a:spcAft>
                <a:spcPts val="700"/>
              </a:spcAft>
            </a:pPr>
            <a:r>
              <a:rPr sz="1100" b="0" i="0">
                <a:solidFill>
                  <a:srgbClr val="C3C2B7"/>
                </a:solidFill>
                <a:latin typeface="Calibri"/>
              </a:rPr>
              <a:t>cohort retention and repeat value by acquisition channel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A19"/>
        </a:solidFill>
        <a:effectLst/>
      </p:bgPr>
    </p:bg>
    <p:spTree>
      <p:nvGrpSpPr>
        <p:cNvPr id="1" name=""/>
        <p:cNvGrpSpPr/>
        <p:nvPr/>
      </p:nvGrpSpPr>
      <p:grpSpPr/>
      <p:sp>
        <p:nvSpPr>
          <p:cNvPr id="2" name="TextBox 1"/>
          <p:cNvSpPr txBox="1"/>
          <p:nvPr/>
        </p:nvSpPr>
        <p:spPr>
          <a:xfrm>
            <a:off x="566928" y="365760"/>
            <a:ext cx="11057839" cy="1143000"/>
          </a:xfrm>
          <a:prstGeom prst="rect">
            <a:avLst/>
          </a:prstGeom>
          <a:noFill/>
        </p:spPr>
        <p:txBody>
          <a:bodyPr wrap="square" anchor="t">
            <a:spAutoFit/>
          </a:bodyPr>
          <a:lstStyle/>
          <a:p>
            <a:pPr algn="l">
              <a:spcAft>
                <a:spcPts val="400"/>
              </a:spcAft>
            </a:pPr>
            <a:r>
              <a:rPr sz="2500" b="1" i="0">
                <a:solidFill>
                  <a:srgbClr val="FFFFFF"/>
                </a:solidFill>
                <a:latin typeface="Calibri"/>
              </a:rPr>
              <a:t>What I would not conclude from this data</a:t>
            </a:r>
          </a:p>
          <a:p>
            <a:pPr algn="l">
              <a:spcAft>
                <a:spcPts val="0"/>
              </a:spcAft>
            </a:pPr>
            <a:r>
              <a:rPr sz="1300" b="0" i="0">
                <a:solidFill>
                  <a:srgbClr val="C3C2B7"/>
                </a:solidFill>
                <a:latin typeface="Calibri"/>
              </a:rPr>
              <a:t>The limits are part of the recommendation</a:t>
            </a:r>
          </a:p>
        </p:txBody>
      </p:sp>
      <p:sp>
        <p:nvSpPr>
          <p:cNvPr id="3" name="Rectangle 2"/>
          <p:cNvSpPr/>
          <p:nvPr/>
        </p:nvSpPr>
        <p:spPr>
          <a:xfrm>
            <a:off x="566928" y="1527048"/>
            <a:ext cx="1280160" cy="28575"/>
          </a:xfrm>
          <a:prstGeom prst="rect">
            <a:avLst/>
          </a:prstGeom>
          <a:gradFill rotWithShape="1">
            <a:gsLst>
              <a:gs pos="0">
                <a:srgbClr val="3987E5"/>
              </a:gs>
              <a:gs pos="100000">
                <a:srgbClr val="9085E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74520"/>
            <a:ext cx="11057839" cy="960120"/>
          </a:xfrm>
          <a:prstGeom prst="rect">
            <a:avLst/>
          </a:prstGeom>
          <a:noFill/>
        </p:spPr>
        <p:txBody>
          <a:bodyPr wrap="square" anchor="t">
            <a:spAutoFit/>
          </a:bodyPr>
          <a:lstStyle/>
          <a:p>
            <a:pPr algn="l">
              <a:spcAft>
                <a:spcPts val="700"/>
              </a:spcAft>
            </a:pPr>
            <a:r>
              <a:rPr sz="1800" b="0" i="0">
                <a:solidFill>
                  <a:srgbClr val="C3C2B7"/>
                </a:solidFill>
                <a:latin typeface="Calibri"/>
              </a:rPr>
              <a:t>Association, not causation. Late delivery correlates with lower ratings and triples the complaint rate. That is not proof that lateness causes either.</a:t>
            </a:r>
          </a:p>
          <a:p>
            <a:pPr algn="l">
              <a:spcAft>
                <a:spcPts val="700"/>
              </a:spcAft>
            </a:pPr>
            <a:r>
              <a:rPr sz="1800" b="0" i="0">
                <a:solidFill>
                  <a:srgbClr val="C3C2B7"/>
                </a:solidFill>
                <a:latin typeface="Calibri"/>
              </a:rPr>
              <a:t>Returns are not netted out of net revenue, so a category's true contribution is somewhat worse than shown, and worst where returns run highest.</a:t>
            </a:r>
          </a:p>
          <a:p>
            <a:pPr algn="l">
              <a:spcAft>
                <a:spcPts val="700"/>
              </a:spcAft>
            </a:pPr>
            <a:r>
              <a:rPr sz="1800" b="0" i="0">
                <a:solidFill>
                  <a:srgbClr val="C3C2B7"/>
                </a:solidFill>
                <a:latin typeface="Calibri"/>
              </a:rPr>
              <a:t>The dataset has no SKU-level cost detail, so it can say Electronics is unprofitable but not whether that is a procurement or a pricing failure.</a:t>
            </a:r>
          </a:p>
          <a:p>
            <a:pPr algn="l">
              <a:spcAft>
                <a:spcPts val="700"/>
              </a:spcAft>
            </a:pPr>
            <a:r>
              <a:rPr sz="1800" b="0" i="0">
                <a:solidFill>
                  <a:srgbClr val="C3C2B7"/>
                </a:solidFill>
                <a:latin typeface="Calibri"/>
              </a:rPr>
              <a:t>Order-level data has no lifetime view: it cannot tell us whether a customer acquired at low contribution becomes valuable later.</a:t>
            </a:r>
          </a:p>
          <a:p>
            <a:pPr algn="l">
              <a:spcAft>
                <a:spcPts val="700"/>
              </a:spcAft>
            </a:pPr>
            <a:r>
              <a:rPr sz="1800" b="0" i="0">
                <a:solidFill>
                  <a:srgbClr val="C3C2B7"/>
                </a:solidFill>
                <a:latin typeface="Calibri"/>
              </a:rPr>
              <a:t>This is a synthetic case dataset. The method is what transfers, not the specific rupee figures.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